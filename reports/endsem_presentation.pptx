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2100" y="914400"/>
            <a:ext cx="728854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BITS Pilani · EEE G513 — Machine Learning for Electrical Engineers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23221" y="914400"/>
            <a:ext cx="109797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808387"/>
            <a:ext cx="16482060" cy="25023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900" spc="-24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ML-Driven Portfolio Optimization.</a:t>
            </a:r>
            <a:endParaRPr lang="en-US" sz="9900" dirty="0"/>
          </a:p>
        </p:txBody>
      </p:sp>
      <p:sp>
        <p:nvSpPr>
          <p:cNvPr id="5" name="Text 3"/>
          <p:cNvSpPr/>
          <p:nvPr/>
        </p:nvSpPr>
        <p:spPr>
          <a:xfrm>
            <a:off x="1143000" y="5729883"/>
            <a:ext cx="11772900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return forecasting and macroeconomic regime detection within a constrained Markowitz framework.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7469088"/>
            <a:ext cx="14997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Submitted by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099941" y="7383363"/>
            <a:ext cx="2168723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Dipesh Kohad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5725864" y="7383363"/>
            <a:ext cx="18529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6368355" y="7383363"/>
            <a:ext cx="2234282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Nikhil Sheoran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9059838" y="7383363"/>
            <a:ext cx="18529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9702329" y="7383363"/>
            <a:ext cx="2586261" cy="428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 Sreenivasan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1143000" y="9110663"/>
            <a:ext cx="649019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universe: Nifty 50 USD · S&amp;P 500 · Gold · US Bonds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665125" y="9110663"/>
            <a:ext cx="461427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End-Semester Presentation · 2005 —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35473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50132" y="933450"/>
            <a:ext cx="15158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54113" y="933450"/>
            <a:ext cx="10223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251757" y="933450"/>
            <a:ext cx="196944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question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3003352"/>
            <a:ext cx="14716125" cy="34098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4500" spc="-9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 machine-learning pipeline that combines supervised return prediction with unsupervised macroeconomic regime detection improve the risk-adjusted performance of a Markowitz-optimized portfolio compared to static baselines?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1143000" y="6832253"/>
            <a:ext cx="13735050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mean-variance optimization depends heavily on estimates of expected returns, which are difficult to estimate because market behaviour shifts with inflation, interest rates, currency, and volatility regimes.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143000" y="9605963"/>
            <a:ext cx="22320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Optimization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451238" y="9605963"/>
            <a:ext cx="76996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13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3545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49909" y="933450"/>
            <a:ext cx="15158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53890" y="933450"/>
            <a:ext cx="160280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Universe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233946" y="933450"/>
            <a:ext cx="402838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Long-run characteristics, 2005 — 2024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743075"/>
            <a:ext cx="1648206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700" spc="-114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 universe.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1143000" y="3036540"/>
            <a:ext cx="370846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Indian equity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412778"/>
            <a:ext cx="3708464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spc="-1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 </a:t>
            </a:r>
            <a:pPr algn="l" indent="0" marL="0">
              <a:lnSpc>
                <a:spcPct val="95000"/>
              </a:lnSpc>
              <a:buNone/>
            </a:pPr>
            <a:r>
              <a:rPr lang="en-US" sz="3024" spc="-1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1143000" y="4395713"/>
            <a:ext cx="370846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Nifty 50 in USD. CAGR 6.71%, R² 0.79.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276850" y="3036540"/>
            <a:ext cx="370846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equity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76850" y="3412778"/>
            <a:ext cx="3708464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spc="-1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 </a:t>
            </a:r>
            <a:pPr algn="l" indent="0" marL="0">
              <a:lnSpc>
                <a:spcPct val="95000"/>
              </a:lnSpc>
              <a:buNone/>
            </a:pPr>
            <a:r>
              <a:rPr lang="en-US" sz="3024" spc="-1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5276850" y="4395713"/>
            <a:ext cx="370846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S&amp;P 500. CAGR 8.73%, R² 0.88.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410700" y="3036540"/>
            <a:ext cx="370846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Commodity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410700" y="3412778"/>
            <a:ext cx="3708464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spc="-1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 </a:t>
            </a:r>
            <a:pPr algn="l" indent="0" marL="0">
              <a:lnSpc>
                <a:spcPct val="95000"/>
              </a:lnSpc>
              <a:buNone/>
            </a:pPr>
            <a:r>
              <a:rPr lang="en-US" sz="3024" spc="-1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7200" dirty="0"/>
          </a:p>
        </p:txBody>
      </p:sp>
      <p:sp>
        <p:nvSpPr>
          <p:cNvPr id="15" name="Text 13"/>
          <p:cNvSpPr/>
          <p:nvPr/>
        </p:nvSpPr>
        <p:spPr>
          <a:xfrm>
            <a:off x="9410700" y="4395713"/>
            <a:ext cx="3708464" cy="369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Spot gold. CAGR 5.77%, R² 0.68.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544550" y="3036540"/>
            <a:ext cx="370846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income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544550" y="3412778"/>
            <a:ext cx="3708464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spc="-1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 </a:t>
            </a:r>
            <a:pPr algn="l" indent="0" marL="0">
              <a:lnSpc>
                <a:spcPct val="95000"/>
              </a:lnSpc>
              <a:buNone/>
            </a:pPr>
            <a:r>
              <a:rPr lang="en-US" sz="3024" spc="-1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7200" dirty="0"/>
          </a:p>
        </p:txBody>
      </p:sp>
      <p:sp>
        <p:nvSpPr>
          <p:cNvPr id="18" name="Text 16"/>
          <p:cNvSpPr/>
          <p:nvPr/>
        </p:nvSpPr>
        <p:spPr>
          <a:xfrm>
            <a:off x="13544550" y="4395713"/>
            <a:ext cx="370846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Treasury bond index. CAGR 4.17%, R² 0.74.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887269"/>
            <a:ext cx="614528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CAGR estimated by log-linear regression on monthly prices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413679" y="5887269"/>
            <a:ext cx="487326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Pairwise correlations between −0.34 and +0.27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43000" y="9605963"/>
            <a:ext cx="22320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Optimization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451238" y="9605963"/>
            <a:ext cx="76996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3545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49909" y="933450"/>
            <a:ext cx="15158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53890" y="933450"/>
            <a:ext cx="137680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984438" y="933450"/>
            <a:ext cx="123676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stages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743075"/>
            <a:ext cx="1648206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spc="-9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457325" y="3259410"/>
            <a:ext cx="26587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Data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57325" y="3783285"/>
            <a:ext cx="265871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EDA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457325" y="7658100"/>
            <a:ext cx="2658713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prices and macroeconomic factors. Trend, volatility, and correlation analysis.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57725" y="3259410"/>
            <a:ext cx="26587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Forecast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657725" y="3783285"/>
            <a:ext cx="265871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 prediction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4657725" y="7658100"/>
            <a:ext cx="2658713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regression, SVR, Random Forest, Gradient Boosting per asset; best model selected.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858125" y="3259410"/>
            <a:ext cx="26587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Regime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858125" y="3783285"/>
            <a:ext cx="265871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Clustering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7858125" y="7658100"/>
            <a:ext cx="2658713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on macro factors followed by GMM and K-Means clustering into four regimes.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058525" y="3259410"/>
            <a:ext cx="26587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Optimize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058525" y="3783285"/>
            <a:ext cx="265871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Markowitz QP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1058525" y="7658100"/>
            <a:ext cx="2658713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Mean-variance QP via cvxpy with 5 — 45% per-asset bounds and PSD-projected covariance.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258925" y="3259410"/>
            <a:ext cx="2658713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Test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4258925" y="3783285"/>
            <a:ext cx="2658713" cy="415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Walk-forward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14258925" y="7658100"/>
            <a:ext cx="2658713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rebalance, 60-month warm-up, evaluation on six historical stress periods.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9605963"/>
            <a:ext cx="22320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Optimization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451238" y="9605963"/>
            <a:ext cx="76996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13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35473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50132" y="933450"/>
            <a:ext cx="15158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54113" y="933450"/>
            <a:ext cx="3040643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Supervised Return Prediction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836229" y="933450"/>
            <a:ext cx="238497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split 2025 — 2026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743075"/>
            <a:ext cx="1648206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spc="-9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Selected models.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219200" y="2916510"/>
            <a:ext cx="1564109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72516" y="2916510"/>
            <a:ext cx="283436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683076" y="2916510"/>
            <a:ext cx="1605930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RMSE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65206" y="2916510"/>
            <a:ext cx="122634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Dir. Acc.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19200" y="3559448"/>
            <a:ext cx="1564109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2772516" y="3559448"/>
            <a:ext cx="283436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683076" y="3559448"/>
            <a:ext cx="160593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0.0497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7365206" y="3559448"/>
            <a:ext cx="1226344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85.7%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219200" y="4230960"/>
            <a:ext cx="15641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S&amp;P 500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2772516" y="4230960"/>
            <a:ext cx="28343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5683076" y="4230960"/>
            <a:ext cx="16059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0.0388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365206" y="4230960"/>
            <a:ext cx="12263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57.1%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19200" y="4869135"/>
            <a:ext cx="15641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Bonds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2772516" y="4869135"/>
            <a:ext cx="28343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5683076" y="4869135"/>
            <a:ext cx="16059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0.0146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365206" y="4869135"/>
            <a:ext cx="12263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50.0%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219200" y="5507310"/>
            <a:ext cx="1564109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Nifty 50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2772516" y="5507310"/>
            <a:ext cx="28343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5683076" y="5507310"/>
            <a:ext cx="160593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0.0419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7365206" y="5507310"/>
            <a:ext cx="122634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42.9%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143000" y="6359798"/>
            <a:ext cx="7750492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Tree-based ensembles dominate across assets. Gold yields the highest directional accuracy; Nifty 50 is the hardest to forecast, consistent with its higher idiosyncratic volatility.</a:t>
            </a:r>
            <a:endParaRPr lang="en-US" sz="1800" dirty="0"/>
          </a:p>
        </p:txBody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20250" y="2916510"/>
            <a:ext cx="7524750" cy="6456090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143000" y="9605963"/>
            <a:ext cx="22320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Optimization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16451238" y="9605963"/>
            <a:ext cx="76996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13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35473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50132" y="933450"/>
            <a:ext cx="15158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54113" y="933450"/>
            <a:ext cx="18810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Regime Detection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875198" y="933450"/>
            <a:ext cx="134600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+ GMM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743075"/>
            <a:ext cx="1648206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spc="-9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Macroeconomic regimes.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143000" y="2916510"/>
            <a:ext cx="6475095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reduces the macro feature set; GMM clusters the components into four latent regimes. Each carries a distinct return signature across the four assets.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5154885"/>
            <a:ext cx="2362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33800" y="5116785"/>
            <a:ext cx="380657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52.57% of months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43000" y="5902598"/>
            <a:ext cx="2362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Inflationary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33800" y="5864498"/>
            <a:ext cx="380657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15.02%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43000" y="6650310"/>
            <a:ext cx="2362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Risk-Off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33800" y="6612210"/>
            <a:ext cx="380657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4.74%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43000" y="7398023"/>
            <a:ext cx="2362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Stagflation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33800" y="7359923"/>
            <a:ext cx="380657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27.67%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43000" y="8202885"/>
            <a:ext cx="6475095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retains 13 components (~90.4% of variance). GMM and K-Means yield related partitions (Adjusted Rand Index 0.600); GMM is adopted as primary.</a:t>
            </a:r>
            <a:endParaRPr lang="en-US" sz="18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43900" y="2916510"/>
            <a:ext cx="8801100" cy="645609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143000" y="9605963"/>
            <a:ext cx="22320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Optimization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6451238" y="9605963"/>
            <a:ext cx="76996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13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3568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52215" y="933450"/>
            <a:ext cx="15158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56197" y="933450"/>
            <a:ext cx="109790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5644515" y="933450"/>
            <a:ext cx="157668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allocators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743075"/>
            <a:ext cx="1648206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spc="-9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 compared.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143000" y="3268935"/>
            <a:ext cx="376732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· 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3830910"/>
            <a:ext cx="3767328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Weight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143000" y="4400476"/>
            <a:ext cx="3767328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25% per asset. No optimization.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04900" y="5413846"/>
            <a:ext cx="990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19300" y="5413846"/>
            <a:ext cx="990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933700" y="5413846"/>
            <a:ext cx="990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848100" y="5413846"/>
            <a:ext cx="99060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495925" y="3268935"/>
            <a:ext cx="340433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· 02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95925" y="3830910"/>
            <a:ext cx="340433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Markowitz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5495925" y="4400476"/>
            <a:ext cx="3404330" cy="7466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Mean-variance QP with rolling-mean μ; 36-month rolling Σ.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495925" y="5451946"/>
            <a:ext cx="340433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 = rolling mean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496425" y="3268935"/>
            <a:ext cx="340433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· 03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496425" y="3830910"/>
            <a:ext cx="3404330" cy="3981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Markowitz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496425" y="4400476"/>
            <a:ext cx="3404330" cy="11009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μ with the per-asset ML forecast; same 36-month rolling Σ.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496425" y="5806232"/>
            <a:ext cx="340433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 = ML forecast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496925" y="3268935"/>
            <a:ext cx="375751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· 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3496925" y="3830910"/>
            <a:ext cx="3757517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700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+ Regime-Aware </a:t>
            </a:r>
            <a:pPr algn="l" indent="0" marL="0">
              <a:lnSpc>
                <a:spcPct val="105000"/>
              </a:lnSpc>
              <a:buNone/>
            </a:pPr>
            <a:r>
              <a:rPr lang="en-US" sz="1800" i="1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(diagnostic)</a:t>
            </a:r>
            <a:endParaRPr lang="en-US" sz="2700" dirty="0"/>
          </a:p>
        </p:txBody>
      </p:sp>
      <p:sp>
        <p:nvSpPr>
          <p:cNvPr id="24" name="Text 22"/>
          <p:cNvSpPr/>
          <p:nvPr/>
        </p:nvSpPr>
        <p:spPr>
          <a:xfrm>
            <a:off x="13496925" y="4760491"/>
            <a:ext cx="3757517" cy="14552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μ and Σ as ML Markowitz; regime label attached for interpretation. Bounds currently identical, so results coincide.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3496925" y="6520532"/>
            <a:ext cx="37575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μ = ML | Σ = 36-mo rolling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43000" y="9110663"/>
            <a:ext cx="5756917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cvxpy · 5 — 45% per-asset bounds · monthly rebalance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859295" y="9110663"/>
            <a:ext cx="5444276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PSD-projected covariance · 36-month rolling window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143000" y="9605963"/>
            <a:ext cx="22320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Optimization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6451238" y="9605963"/>
            <a:ext cx="76996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13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35473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50132" y="933450"/>
            <a:ext cx="15158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54113" y="933450"/>
            <a:ext cx="2300808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Walk-Forward Results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182823" y="933450"/>
            <a:ext cx="408104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rebalance · 60-month warm-up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743075"/>
            <a:ext cx="1648206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spc="-9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Walk-forward performance.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219200" y="2916510"/>
            <a:ext cx="397930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138537" y="2916510"/>
            <a:ext cx="300719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 return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193944" y="2916510"/>
            <a:ext cx="342484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 volatility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694988" y="2916510"/>
            <a:ext cx="1289968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061156" y="2916510"/>
            <a:ext cx="1328961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Sortino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4462157" y="2916510"/>
            <a:ext cx="2606643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drawdown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19200" y="3559448"/>
            <a:ext cx="39793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Weight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5138537" y="3559448"/>
            <a:ext cx="30071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8.76%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8193944" y="3559448"/>
            <a:ext cx="34248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9.54%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1694988" y="3559448"/>
            <a:ext cx="128996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0.92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3061156" y="3559448"/>
            <a:ext cx="13289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1.55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4462157" y="3559448"/>
            <a:ext cx="26066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−14.87%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1219200" y="4197623"/>
            <a:ext cx="397930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Markowitz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5138537" y="4197623"/>
            <a:ext cx="300719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7.67%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8193944" y="4197623"/>
            <a:ext cx="342484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10.16%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1694988" y="4197623"/>
            <a:ext cx="1289968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0.75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13061156" y="4197623"/>
            <a:ext cx="132896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1.29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14462157" y="4197623"/>
            <a:ext cx="2606643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−19.92%</a:t>
            </a:r>
            <a:endParaRPr lang="en-US" sz="1950" dirty="0"/>
          </a:p>
        </p:txBody>
      </p:sp>
      <p:sp>
        <p:nvSpPr>
          <p:cNvPr id="25" name="Text 23"/>
          <p:cNvSpPr/>
          <p:nvPr/>
        </p:nvSpPr>
        <p:spPr>
          <a:xfrm>
            <a:off x="1219200" y="4835798"/>
            <a:ext cx="397930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Markowitz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5138537" y="4835798"/>
            <a:ext cx="300719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9.49%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8193944" y="4835798"/>
            <a:ext cx="342484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9.46%</a:t>
            </a:r>
            <a:endParaRPr lang="en-US" sz="1950" dirty="0"/>
          </a:p>
        </p:txBody>
      </p:sp>
      <p:sp>
        <p:nvSpPr>
          <p:cNvPr id="28" name="Text 26"/>
          <p:cNvSpPr/>
          <p:nvPr/>
        </p:nvSpPr>
        <p:spPr>
          <a:xfrm>
            <a:off x="11694988" y="4835798"/>
            <a:ext cx="128996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950" dirty="0"/>
          </a:p>
        </p:txBody>
      </p:sp>
      <p:sp>
        <p:nvSpPr>
          <p:cNvPr id="29" name="Text 27"/>
          <p:cNvSpPr/>
          <p:nvPr/>
        </p:nvSpPr>
        <p:spPr>
          <a:xfrm>
            <a:off x="13061156" y="4835798"/>
            <a:ext cx="132896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1.73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4462157" y="4835798"/>
            <a:ext cx="260664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−16.35%</a:t>
            </a:r>
            <a:endParaRPr lang="en-US" sz="1950" dirty="0"/>
          </a:p>
        </p:txBody>
      </p:sp>
      <p:sp>
        <p:nvSpPr>
          <p:cNvPr id="31" name="Text 29"/>
          <p:cNvSpPr/>
          <p:nvPr/>
        </p:nvSpPr>
        <p:spPr>
          <a:xfrm>
            <a:off x="1219200" y="5507310"/>
            <a:ext cx="397930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+ Regime-Aware </a:t>
            </a:r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†</a:t>
            </a:r>
            <a:endParaRPr lang="en-US" sz="1950" dirty="0"/>
          </a:p>
        </p:txBody>
      </p:sp>
      <p:sp>
        <p:nvSpPr>
          <p:cNvPr id="32" name="Text 30"/>
          <p:cNvSpPr/>
          <p:nvPr/>
        </p:nvSpPr>
        <p:spPr>
          <a:xfrm>
            <a:off x="5138537" y="5507310"/>
            <a:ext cx="300719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9.49%</a:t>
            </a:r>
            <a:endParaRPr lang="en-US" sz="1950" dirty="0"/>
          </a:p>
        </p:txBody>
      </p:sp>
      <p:sp>
        <p:nvSpPr>
          <p:cNvPr id="33" name="Text 31"/>
          <p:cNvSpPr/>
          <p:nvPr/>
        </p:nvSpPr>
        <p:spPr>
          <a:xfrm>
            <a:off x="8193944" y="5507310"/>
            <a:ext cx="3424845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9.46%</a:t>
            </a:r>
            <a:endParaRPr lang="en-US" sz="1950" dirty="0"/>
          </a:p>
        </p:txBody>
      </p:sp>
      <p:sp>
        <p:nvSpPr>
          <p:cNvPr id="34" name="Text 32"/>
          <p:cNvSpPr/>
          <p:nvPr/>
        </p:nvSpPr>
        <p:spPr>
          <a:xfrm>
            <a:off x="11694988" y="5507310"/>
            <a:ext cx="1289968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1.00</a:t>
            </a:r>
            <a:endParaRPr lang="en-US" sz="1950" dirty="0"/>
          </a:p>
        </p:txBody>
      </p:sp>
      <p:sp>
        <p:nvSpPr>
          <p:cNvPr id="35" name="Text 33"/>
          <p:cNvSpPr/>
          <p:nvPr/>
        </p:nvSpPr>
        <p:spPr>
          <a:xfrm>
            <a:off x="13061156" y="5507310"/>
            <a:ext cx="1328961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1.73</a:t>
            </a:r>
            <a:endParaRPr lang="en-US" sz="1950" dirty="0"/>
          </a:p>
        </p:txBody>
      </p:sp>
      <p:sp>
        <p:nvSpPr>
          <p:cNvPr id="36" name="Text 34"/>
          <p:cNvSpPr/>
          <p:nvPr/>
        </p:nvSpPr>
        <p:spPr>
          <a:xfrm>
            <a:off x="14462157" y="5507310"/>
            <a:ext cx="2606643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−16.35%</a:t>
            </a:r>
            <a:endParaRPr lang="en-US" sz="1950" dirty="0"/>
          </a:p>
        </p:txBody>
      </p:sp>
      <p:sp>
        <p:nvSpPr>
          <p:cNvPr id="37" name="Text 35"/>
          <p:cNvSpPr/>
          <p:nvPr/>
        </p:nvSpPr>
        <p:spPr>
          <a:xfrm>
            <a:off x="1143000" y="6240735"/>
            <a:ext cx="1648206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i="1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† ML + Regime-Aware coincides with ML Markowitz because both pass identical μ, identical 36-month rolling Σ, and identical 5–45% per-asset bounds into the QP. The regime label is currently diagnostic.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1143000" y="7269435"/>
            <a:ext cx="497075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Sharpe lift vs classical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143000" y="7645673"/>
            <a:ext cx="4970754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spc="-1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+0.25</a:t>
            </a:r>
            <a:endParaRPr lang="en-US" sz="7200" dirty="0"/>
          </a:p>
        </p:txBody>
      </p:sp>
      <p:sp>
        <p:nvSpPr>
          <p:cNvPr id="40" name="Text 38"/>
          <p:cNvSpPr/>
          <p:nvPr/>
        </p:nvSpPr>
        <p:spPr>
          <a:xfrm>
            <a:off x="1143000" y="8628608"/>
            <a:ext cx="372808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0.75 to 1.00 under identical 5–45% bounds.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6730975" y="7269435"/>
            <a:ext cx="497075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Drawdown reduction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730975" y="7645673"/>
            <a:ext cx="4970754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spc="-1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357 </a:t>
            </a:r>
            <a:pPr algn="l" indent="0" marL="0">
              <a:lnSpc>
                <a:spcPct val="95000"/>
              </a:lnSpc>
              <a:buNone/>
            </a:pPr>
            <a:r>
              <a:rPr lang="en-US" sz="3024" spc="-1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bps</a:t>
            </a:r>
            <a:endParaRPr lang="en-US" sz="7200" dirty="0"/>
          </a:p>
        </p:txBody>
      </p:sp>
      <p:sp>
        <p:nvSpPr>
          <p:cNvPr id="43" name="Text 41"/>
          <p:cNvSpPr/>
          <p:nvPr/>
        </p:nvSpPr>
        <p:spPr>
          <a:xfrm>
            <a:off x="6730975" y="8628608"/>
            <a:ext cx="372808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drawdown −16.35% versus −19.92% for classical.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2318950" y="7269435"/>
            <a:ext cx="497075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Annualized return lift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2318950" y="7645673"/>
            <a:ext cx="4970754" cy="9067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spc="-1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+182 </a:t>
            </a:r>
            <a:pPr algn="l" indent="0" marL="0">
              <a:lnSpc>
                <a:spcPct val="95000"/>
              </a:lnSpc>
              <a:buNone/>
            </a:pPr>
            <a:r>
              <a:rPr lang="en-US" sz="3024" spc="-18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bps</a:t>
            </a:r>
            <a:endParaRPr lang="en-US" sz="7200" dirty="0"/>
          </a:p>
        </p:txBody>
      </p:sp>
      <p:sp>
        <p:nvSpPr>
          <p:cNvPr id="46" name="Text 44"/>
          <p:cNvSpPr/>
          <p:nvPr/>
        </p:nvSpPr>
        <p:spPr>
          <a:xfrm>
            <a:off x="12318950" y="8628608"/>
            <a:ext cx="372808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9.49% versus 7.67% for classical Markowitz.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143000" y="9605963"/>
            <a:ext cx="22320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Optimization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6451238" y="9605963"/>
            <a:ext cx="76996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13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35473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50132" y="933450"/>
            <a:ext cx="15158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54113" y="933450"/>
            <a:ext cx="197755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Wealth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835658" y="933450"/>
            <a:ext cx="340862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Walk-forward, monthly rebalance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743075"/>
            <a:ext cx="1648206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spc="-9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Cumulative wealth curve.</a:t>
            </a:r>
            <a:endParaRPr lang="en-US" sz="4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95400" y="3068910"/>
            <a:ext cx="7239000" cy="61512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0" y="4270474"/>
            <a:ext cx="7770114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the full backtest the four strategies track each other through stable periods. Classical Markowitz drifts behind because the rolling-mean μ produces less stable allocations.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9601200" y="5813524"/>
            <a:ext cx="7770114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ML strategies separate from both baselines from 2022 onwards, consistent with the higher annualized return ( 9.49% ) and Sharpe ( 1.00) reported in the walk-forward summary.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9972675" y="7656612"/>
            <a:ext cx="2070571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/ Regime-Aware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2671896" y="7656612"/>
            <a:ext cx="1422648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Weight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4723194" y="7656612"/>
            <a:ext cx="2068711" cy="290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Markowitz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143000" y="9605963"/>
            <a:ext cx="22320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Optimization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6451238" y="9605963"/>
            <a:ext cx="76996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13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3545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49909" y="933450"/>
            <a:ext cx="15158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53890" y="933450"/>
            <a:ext cx="178705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Weights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4344873" y="933450"/>
            <a:ext cx="288413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weights by strategy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743075"/>
            <a:ext cx="7770114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spc="-9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Allocation behaviour.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1143000" y="2916510"/>
            <a:ext cx="7770114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1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 weights drift smoothly. The ML allocator is far more tactical: per-asset weights pivot month-to-month as forecasts and covariance refresh, frequently reaching the 5% and 45% bounds.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143000" y="5154885"/>
            <a:ext cx="2362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 Weight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733800" y="5116785"/>
            <a:ext cx="510159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Constant 25% by construction.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43000" y="5902598"/>
            <a:ext cx="2362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733800" y="5864498"/>
            <a:ext cx="510159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Gold-heavy 2011–14; equity-heavy from 2023.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143000" y="6969398"/>
            <a:ext cx="23622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/ Regime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733800" y="6931298"/>
            <a:ext cx="5101590" cy="676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Rotates Nifty &amp; gold; bonds rarely above floor.</a:t>
            </a:r>
            <a:endParaRPr lang="en-US" sz="19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9601200" y="1743075"/>
            <a:ext cx="7543800" cy="7629525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43000" y="9605963"/>
            <a:ext cx="22320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Optimization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6451238" y="9605963"/>
            <a:ext cx="76996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13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3545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49909" y="933450"/>
            <a:ext cx="15158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53890" y="933450"/>
            <a:ext cx="155205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Periods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3616360" y="933450"/>
            <a:ext cx="36345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historical episodes · total return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743075"/>
            <a:ext cx="1648206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spc="-9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Stress-period analysis.</a:t>
            </a:r>
            <a:endParaRPr lang="en-US" sz="48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43000" y="2916510"/>
            <a:ext cx="7543800" cy="64560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77400" y="2916510"/>
            <a:ext cx="320663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Episode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2862396" y="2916510"/>
            <a:ext cx="135128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EW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14289881" y="2916510"/>
            <a:ext cx="1351285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Classical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5717366" y="2916510"/>
            <a:ext cx="1351434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9677400" y="3559448"/>
            <a:ext cx="3206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Euro Debt 2011</a:t>
            </a:r>
            <a:endParaRPr lang="en-US" sz="1950" dirty="0"/>
          </a:p>
        </p:txBody>
      </p:sp>
      <p:sp>
        <p:nvSpPr>
          <p:cNvPr id="13" name="Text 10"/>
          <p:cNvSpPr/>
          <p:nvPr/>
        </p:nvSpPr>
        <p:spPr>
          <a:xfrm>
            <a:off x="12862396" y="3559448"/>
            <a:ext cx="13512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−0.92%</a:t>
            </a:r>
            <a:endParaRPr lang="en-US" sz="1950" dirty="0"/>
          </a:p>
        </p:txBody>
      </p:sp>
      <p:sp>
        <p:nvSpPr>
          <p:cNvPr id="14" name="Text 11"/>
          <p:cNvSpPr/>
          <p:nvPr/>
        </p:nvSpPr>
        <p:spPr>
          <a:xfrm>
            <a:off x="14289881" y="3559448"/>
            <a:ext cx="13512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+7.79%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5717366" y="3559448"/>
            <a:ext cx="13514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+6.15%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9677400" y="4197623"/>
            <a:ext cx="3206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Taper Tantrum 2013</a:t>
            </a:r>
            <a:endParaRPr lang="en-US" sz="1950" dirty="0"/>
          </a:p>
        </p:txBody>
      </p:sp>
      <p:sp>
        <p:nvSpPr>
          <p:cNvPr id="17" name="Text 14"/>
          <p:cNvSpPr/>
          <p:nvPr/>
        </p:nvSpPr>
        <p:spPr>
          <a:xfrm>
            <a:off x="12862396" y="4197623"/>
            <a:ext cx="13512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−8.25%</a:t>
            </a:r>
            <a:endParaRPr lang="en-US" sz="1950" dirty="0"/>
          </a:p>
        </p:txBody>
      </p:sp>
      <p:sp>
        <p:nvSpPr>
          <p:cNvPr id="18" name="Text 15"/>
          <p:cNvSpPr/>
          <p:nvPr/>
        </p:nvSpPr>
        <p:spPr>
          <a:xfrm>
            <a:off x="14289881" y="4197623"/>
            <a:ext cx="13512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−11.49%</a:t>
            </a:r>
            <a:endParaRPr lang="en-US" sz="1950" dirty="0"/>
          </a:p>
        </p:txBody>
      </p:sp>
      <p:sp>
        <p:nvSpPr>
          <p:cNvPr id="19" name="Text 16"/>
          <p:cNvSpPr/>
          <p:nvPr/>
        </p:nvSpPr>
        <p:spPr>
          <a:xfrm>
            <a:off x="15717366" y="4197623"/>
            <a:ext cx="13514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−4.70%</a:t>
            </a:r>
            <a:endParaRPr lang="en-US" sz="1950" dirty="0"/>
          </a:p>
        </p:txBody>
      </p:sp>
      <p:sp>
        <p:nvSpPr>
          <p:cNvPr id="20" name="Text 17"/>
          <p:cNvSpPr/>
          <p:nvPr/>
        </p:nvSpPr>
        <p:spPr>
          <a:xfrm>
            <a:off x="9677400" y="4835798"/>
            <a:ext cx="3206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/ China 2015–16</a:t>
            </a:r>
            <a:endParaRPr lang="en-US" sz="1950" dirty="0"/>
          </a:p>
        </p:txBody>
      </p:sp>
      <p:sp>
        <p:nvSpPr>
          <p:cNvPr id="21" name="Text 18"/>
          <p:cNvSpPr/>
          <p:nvPr/>
        </p:nvSpPr>
        <p:spPr>
          <a:xfrm>
            <a:off x="12862396" y="4835798"/>
            <a:ext cx="13512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−3.06%</a:t>
            </a:r>
            <a:endParaRPr lang="en-US" sz="1950" dirty="0"/>
          </a:p>
        </p:txBody>
      </p:sp>
      <p:sp>
        <p:nvSpPr>
          <p:cNvPr id="22" name="Text 19"/>
          <p:cNvSpPr/>
          <p:nvPr/>
        </p:nvSpPr>
        <p:spPr>
          <a:xfrm>
            <a:off x="14289881" y="4835798"/>
            <a:ext cx="13512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−0.14%</a:t>
            </a:r>
            <a:endParaRPr lang="en-US" sz="1950" dirty="0"/>
          </a:p>
        </p:txBody>
      </p:sp>
      <p:sp>
        <p:nvSpPr>
          <p:cNvPr id="23" name="Text 20"/>
          <p:cNvSpPr/>
          <p:nvPr/>
        </p:nvSpPr>
        <p:spPr>
          <a:xfrm>
            <a:off x="15717366" y="4835798"/>
            <a:ext cx="13514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−6.58%</a:t>
            </a:r>
            <a:endParaRPr lang="en-US" sz="1950" dirty="0"/>
          </a:p>
        </p:txBody>
      </p:sp>
      <p:sp>
        <p:nvSpPr>
          <p:cNvPr id="24" name="Text 21"/>
          <p:cNvSpPr/>
          <p:nvPr/>
        </p:nvSpPr>
        <p:spPr>
          <a:xfrm>
            <a:off x="9677400" y="5473973"/>
            <a:ext cx="3206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Volmageddon 2018</a:t>
            </a:r>
            <a:endParaRPr lang="en-US" sz="1950" dirty="0"/>
          </a:p>
        </p:txBody>
      </p:sp>
      <p:sp>
        <p:nvSpPr>
          <p:cNvPr id="25" name="Text 22"/>
          <p:cNvSpPr/>
          <p:nvPr/>
        </p:nvSpPr>
        <p:spPr>
          <a:xfrm>
            <a:off x="12862396" y="5473973"/>
            <a:ext cx="13512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−1.81%</a:t>
            </a:r>
            <a:endParaRPr lang="en-US" sz="1950" dirty="0"/>
          </a:p>
        </p:txBody>
      </p:sp>
      <p:sp>
        <p:nvSpPr>
          <p:cNvPr id="26" name="Text 23"/>
          <p:cNvSpPr/>
          <p:nvPr/>
        </p:nvSpPr>
        <p:spPr>
          <a:xfrm>
            <a:off x="14289881" y="5473973"/>
            <a:ext cx="13512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−0.65%</a:t>
            </a:r>
            <a:endParaRPr lang="en-US" sz="1950" dirty="0"/>
          </a:p>
        </p:txBody>
      </p:sp>
      <p:sp>
        <p:nvSpPr>
          <p:cNvPr id="27" name="Text 24"/>
          <p:cNvSpPr/>
          <p:nvPr/>
        </p:nvSpPr>
        <p:spPr>
          <a:xfrm>
            <a:off x="15717366" y="5473973"/>
            <a:ext cx="13514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+0.22%</a:t>
            </a:r>
            <a:endParaRPr lang="en-US" sz="1950" dirty="0"/>
          </a:p>
        </p:txBody>
      </p:sp>
      <p:sp>
        <p:nvSpPr>
          <p:cNvPr id="28" name="Text 25"/>
          <p:cNvSpPr/>
          <p:nvPr/>
        </p:nvSpPr>
        <p:spPr>
          <a:xfrm>
            <a:off x="9677400" y="6112148"/>
            <a:ext cx="3206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 Crash 2020</a:t>
            </a:r>
            <a:endParaRPr lang="en-US" sz="1950" dirty="0"/>
          </a:p>
        </p:txBody>
      </p:sp>
      <p:sp>
        <p:nvSpPr>
          <p:cNvPr id="29" name="Text 26"/>
          <p:cNvSpPr/>
          <p:nvPr/>
        </p:nvSpPr>
        <p:spPr>
          <a:xfrm>
            <a:off x="12862396" y="6112148"/>
            <a:ext cx="13512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−4.13%</a:t>
            </a:r>
            <a:endParaRPr lang="en-US" sz="1950" dirty="0"/>
          </a:p>
        </p:txBody>
      </p:sp>
      <p:sp>
        <p:nvSpPr>
          <p:cNvPr id="30" name="Text 27"/>
          <p:cNvSpPr/>
          <p:nvPr/>
        </p:nvSpPr>
        <p:spPr>
          <a:xfrm>
            <a:off x="14289881" y="6112148"/>
            <a:ext cx="13512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−6.65%</a:t>
            </a:r>
            <a:endParaRPr lang="en-US" sz="1950" dirty="0"/>
          </a:p>
        </p:txBody>
      </p:sp>
      <p:sp>
        <p:nvSpPr>
          <p:cNvPr id="31" name="Text 28"/>
          <p:cNvSpPr/>
          <p:nvPr/>
        </p:nvSpPr>
        <p:spPr>
          <a:xfrm>
            <a:off x="15717366" y="6112148"/>
            <a:ext cx="13514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−5.39%</a:t>
            </a:r>
            <a:endParaRPr lang="en-US" sz="1950" dirty="0"/>
          </a:p>
        </p:txBody>
      </p:sp>
      <p:sp>
        <p:nvSpPr>
          <p:cNvPr id="32" name="Text 29"/>
          <p:cNvSpPr/>
          <p:nvPr/>
        </p:nvSpPr>
        <p:spPr>
          <a:xfrm>
            <a:off x="9677400" y="6750323"/>
            <a:ext cx="320663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 / Inflation 2022</a:t>
            </a:r>
            <a:endParaRPr lang="en-US" sz="1950" dirty="0"/>
          </a:p>
        </p:txBody>
      </p:sp>
      <p:sp>
        <p:nvSpPr>
          <p:cNvPr id="33" name="Text 30"/>
          <p:cNvSpPr/>
          <p:nvPr/>
        </p:nvSpPr>
        <p:spPr>
          <a:xfrm>
            <a:off x="12862396" y="6750323"/>
            <a:ext cx="13512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−12.92%</a:t>
            </a:r>
            <a:endParaRPr lang="en-US" sz="1950" dirty="0"/>
          </a:p>
        </p:txBody>
      </p:sp>
      <p:sp>
        <p:nvSpPr>
          <p:cNvPr id="34" name="Text 31"/>
          <p:cNvSpPr/>
          <p:nvPr/>
        </p:nvSpPr>
        <p:spPr>
          <a:xfrm>
            <a:off x="14289881" y="6750323"/>
            <a:ext cx="1351285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−14.39%</a:t>
            </a:r>
            <a:endParaRPr lang="en-US" sz="1950" dirty="0"/>
          </a:p>
        </p:txBody>
      </p:sp>
      <p:sp>
        <p:nvSpPr>
          <p:cNvPr id="35" name="Text 32"/>
          <p:cNvSpPr/>
          <p:nvPr/>
        </p:nvSpPr>
        <p:spPr>
          <a:xfrm>
            <a:off x="15717366" y="6750323"/>
            <a:ext cx="135143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−12.84%</a:t>
            </a:r>
            <a:endParaRPr lang="en-US" sz="1950" dirty="0"/>
          </a:p>
        </p:txBody>
      </p:sp>
      <p:sp>
        <p:nvSpPr>
          <p:cNvPr id="36" name="Text 33"/>
          <p:cNvSpPr/>
          <p:nvPr/>
        </p:nvSpPr>
        <p:spPr>
          <a:xfrm>
            <a:off x="9601200" y="7526610"/>
            <a:ext cx="7770114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strategy dominates every crisis. ML performs better in slow-developing shocks (Taper Tantrum, Volmageddon, 2022 inflation) but equal-weight is more defensive in COVID and the 2015–16 oil/China drawdown.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1143000" y="9605963"/>
            <a:ext cx="22320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Optimization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16451238" y="9605963"/>
            <a:ext cx="76996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13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14400"/>
            <a:ext cx="35473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50132" y="933450"/>
            <a:ext cx="15158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54113" y="933450"/>
            <a:ext cx="1313111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6287006" y="933450"/>
            <a:ext cx="93419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743075"/>
            <a:ext cx="16482060" cy="678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4800" spc="-9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Conclusions.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057400" y="3135585"/>
            <a:ext cx="15540228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forecasts improve risk-adjusted returns.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2057400" y="3606105"/>
            <a:ext cx="1275397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Replacing the μ-vector with per-asset ML predictions raises Sharpe from 0.75 to 1.00 and reduces maximum drawdown by approximately 360 basis points relative to classical Markowitz.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57400" y="4697611"/>
            <a:ext cx="15540228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Equal-weight is a competitive baseline.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2057400" y="5168131"/>
            <a:ext cx="1275397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Equal-weight outperforms classical Markowitz on Sharpe, total return, and drawdown, indicating that estimation error in μ can outweigh the diversification benefit.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057400" y="6259637"/>
            <a:ext cx="15540228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regime overlay is currently diagnostic, not allocative.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057400" y="6730157"/>
            <a:ext cx="12753975" cy="10324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ML + Regime-Aware passes the same μ, the same 36-month rolling Σ, and the same 5–45% bounds into the QP, it produces metrics identical to ML Markowitz. The regime label is retained for interpretation; using regime-specific bounds is a natural next step.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57400" y="8153102"/>
            <a:ext cx="15540228" cy="4324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700" spc="-40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 robustness is uneven.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2057400" y="8623622"/>
            <a:ext cx="12753975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mitigates slow regime shifts but does not protect against fast equity-led drawdowns; covariance updates lag the underlying shock.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9605963"/>
            <a:ext cx="22320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Optimization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1238" y="9605963"/>
            <a:ext cx="76996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13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62100" y="914400"/>
            <a:ext cx="480715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22551" y="914400"/>
            <a:ext cx="109864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009156"/>
            <a:ext cx="16482060" cy="12702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9900" spc="-247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9900" dirty="0"/>
          </a:p>
        </p:txBody>
      </p:sp>
      <p:sp>
        <p:nvSpPr>
          <p:cNvPr id="5" name="Text 3"/>
          <p:cNvSpPr/>
          <p:nvPr/>
        </p:nvSpPr>
        <p:spPr>
          <a:xfrm>
            <a:off x="1143000" y="4698504"/>
            <a:ext cx="11772900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Code, artifacts, and figures are available in the project repository.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43000" y="5258544"/>
            <a:ext cx="1648206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github.com/Blackbox-droid/portfolio-optimization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43000" y="6282482"/>
            <a:ext cx="91298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513186" y="6230094"/>
            <a:ext cx="1936179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-3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Dipesh Kohad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906566" y="6230094"/>
            <a:ext cx="17316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-3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536927" y="6230094"/>
            <a:ext cx="199444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-3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Nikhil Sheoran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988573" y="6230094"/>
            <a:ext cx="173162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-3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8618934" y="6230094"/>
            <a:ext cx="2307357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-3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 Sreenivasan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143000" y="7344519"/>
            <a:ext cx="370846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7720757"/>
            <a:ext cx="370846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EEE G513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276850" y="7344519"/>
            <a:ext cx="370846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Stack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276850" y="7720757"/>
            <a:ext cx="370846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cvxpy · scikit-learn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410700" y="7344519"/>
            <a:ext cx="370846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410700" y="7720757"/>
            <a:ext cx="370846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2005 — 2026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3544550" y="7344519"/>
            <a:ext cx="3708464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544550" y="7720757"/>
            <a:ext cx="3708464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compared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143000" y="9605963"/>
            <a:ext cx="223205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Optimization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451238" y="9605963"/>
            <a:ext cx="76996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6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13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2026-04-25T13:16:06Z</dcterms:created>
  <dcterms:modified xsi:type="dcterms:W3CDTF">2026-04-25T13:16:06Z</dcterms:modified>
</cp:coreProperties>
</file>